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0" r:id="rId6"/>
    <p:sldId id="293" r:id="rId7"/>
    <p:sldId id="294" r:id="rId8"/>
    <p:sldId id="296" r:id="rId9"/>
    <p:sldId id="297" r:id="rId10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8" d="100"/>
          <a:sy n="68" d="100"/>
        </p:scale>
        <p:origin x="792" y="72"/>
      </p:cViewPr>
      <p:guideLst>
        <p:guide orient="horz" pos="216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49574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869385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82829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470" y="947420"/>
            <a:ext cx="8701405" cy="4646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SIH26160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AI-Powered IPsec VPN Protocol Analyzer and Security Assessment Framework</a:t>
            </a: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and Cybersecurity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IDEA TITLE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329565" y="180975"/>
            <a:ext cx="1485900" cy="87820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</a:t>
            </a:r>
            <a:endParaRPr lang="en-US" dirty="0"/>
          </a:p>
          <a:p>
            <a:pPr algn="ctr"/>
            <a:r>
              <a:rPr lang="en-US" altLang="en-IN" dirty="0"/>
              <a:t>Terminal</a:t>
            </a:r>
            <a:endParaRPr lang="en-US" alt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69215" y="1236980"/>
            <a:ext cx="4064000" cy="4549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ctr">
              <a:buFont typeface="Arial" panose="020B0604020202020204" pitchFamily="34" charset="0"/>
              <a:buNone/>
            </a:pPr>
            <a:r>
              <a:rPr lang="en-US" altLang="en-US" sz="2400" b="1" i="1">
                <a:latin typeface="Constantia" panose="02030602050306030303" charset="0"/>
                <a:cs typeface="Constantia" panose="02030602050306030303" charset="0"/>
              </a:rPr>
              <a:t>Detailed Explanation of the Proposed Solution</a:t>
            </a:r>
            <a:endParaRPr lang="en-US" altLang="en-US" sz="2400" b="1" i="1">
              <a:latin typeface="Constantia" panose="02030602050306030303" charset="0"/>
              <a:cs typeface="Constantia" panose="02030602050306030303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en-US" sz="2400" b="1" i="1">
              <a:latin typeface="Constantia" panose="02030602050306030303" charset="0"/>
              <a:cs typeface="Constantia" panose="02030602050306030303" charset="0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b="1"/>
              <a:t>AI driven IPsec analysis platform.</a:t>
            </a:r>
            <a:endParaRPr lang="en-US" altLang="en-US" b="1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Monitors live or captured </a:t>
            </a:r>
            <a:r>
              <a:rPr lang="en-US" altLang="en-US" b="1"/>
              <a:t>VPN traffic.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Uses </a:t>
            </a:r>
            <a:r>
              <a:rPr lang="en-US" altLang="en-US" b="1"/>
              <a:t>TShark</a:t>
            </a:r>
            <a:r>
              <a:rPr lang="en-US" altLang="en-US"/>
              <a:t> to capture and </a:t>
            </a:r>
            <a:r>
              <a:rPr lang="en-US" altLang="en-US" b="1"/>
              <a:t>decode packets.</a:t>
            </a:r>
            <a:endParaRPr lang="en-US" altLang="en-US" b="1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Parses </a:t>
            </a:r>
            <a:r>
              <a:rPr lang="en-US" altLang="en-US" b="1"/>
              <a:t>IKE</a:t>
            </a:r>
            <a:r>
              <a:rPr lang="en-US" altLang="en-US"/>
              <a:t> negotiation details.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Extracts </a:t>
            </a:r>
            <a:r>
              <a:rPr lang="en-US" altLang="en-US" b="1"/>
              <a:t>ESP</a:t>
            </a:r>
            <a:r>
              <a:rPr lang="en-US" altLang="en-US"/>
              <a:t> traffic features.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Uses </a:t>
            </a:r>
            <a:r>
              <a:rPr lang="en-US" altLang="en-US" b="1"/>
              <a:t>ML to predict</a:t>
            </a:r>
            <a:r>
              <a:rPr lang="en-US" altLang="en-US"/>
              <a:t> encrypted traffic type.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Checks configurations against security standards.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Generates a </a:t>
            </a:r>
            <a:r>
              <a:rPr lang="en-US" altLang="en-US" b="1"/>
              <a:t>risk score and threat matrix.</a:t>
            </a:r>
            <a:endParaRPr lang="en-US" altLang="en-US" b="1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Produces</a:t>
            </a:r>
            <a:r>
              <a:rPr lang="en-US" altLang="en-US" b="1"/>
              <a:t> technical and executive reports.</a:t>
            </a:r>
            <a:endParaRPr lang="en-US" altLang="en-US" b="1"/>
          </a:p>
        </p:txBody>
      </p:sp>
      <p:sp>
        <p:nvSpPr>
          <p:cNvPr id="3" name="Text Box 2"/>
          <p:cNvSpPr txBox="1"/>
          <p:nvPr/>
        </p:nvSpPr>
        <p:spPr>
          <a:xfrm>
            <a:off x="4325620" y="1236980"/>
            <a:ext cx="4064000" cy="3554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ctr">
              <a:buFont typeface="Arial" panose="020B0604020202020204" pitchFamily="34" charset="0"/>
              <a:buNone/>
            </a:pPr>
            <a:r>
              <a:rPr lang="en-US" altLang="en-US" sz="2400" b="1" i="1">
                <a:latin typeface="Constantia" panose="02030602050306030303" charset="0"/>
                <a:cs typeface="Constantia" panose="02030602050306030303" charset="0"/>
              </a:rPr>
              <a:t>How It Addresses the Problem</a:t>
            </a:r>
            <a:endParaRPr lang="en-US" altLang="en-US" sz="2400" b="1" i="1">
              <a:latin typeface="Constantia" panose="02030602050306030303" charset="0"/>
              <a:cs typeface="Constantia" panose="02030602050306030303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en-US" sz="2400" b="1" i="1">
              <a:latin typeface="Constantia" panose="02030602050306030303" charset="0"/>
              <a:cs typeface="Constantia" panose="02030602050306030303" charset="0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Removes manual packet inspection.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Automatically identifies </a:t>
            </a:r>
            <a:r>
              <a:rPr lang="en-US" altLang="en-US" b="1"/>
              <a:t>VPN characteristics.</a:t>
            </a:r>
            <a:endParaRPr lang="en-US" altLang="en-US" b="1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Detects insecure configurations.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Finds </a:t>
            </a:r>
            <a:r>
              <a:rPr lang="en-US" altLang="en-US" b="1"/>
              <a:t>weaknesses in cryptographic settings.</a:t>
            </a:r>
            <a:endParaRPr lang="en-US" altLang="en-US" b="1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Analyzes encrypted traffic patterns.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Provides </a:t>
            </a:r>
            <a:r>
              <a:rPr lang="en-US" altLang="en-US" b="1"/>
              <a:t>clear security</a:t>
            </a:r>
            <a:r>
              <a:rPr lang="en-US" altLang="en-US"/>
              <a:t> recommendations.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Gives analysts a </a:t>
            </a:r>
            <a:r>
              <a:rPr lang="en-US" altLang="en-US" b="1"/>
              <a:t>single security overview.</a:t>
            </a:r>
            <a:endParaRPr lang="en-US" altLang="en-US" b="1"/>
          </a:p>
        </p:txBody>
      </p:sp>
      <p:sp>
        <p:nvSpPr>
          <p:cNvPr id="4" name="Text Box 3"/>
          <p:cNvSpPr txBox="1"/>
          <p:nvPr/>
        </p:nvSpPr>
        <p:spPr>
          <a:xfrm>
            <a:off x="8408035" y="1236980"/>
            <a:ext cx="363220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ctr">
              <a:buFont typeface="Arial" panose="020B0604020202020204" pitchFamily="34" charset="0"/>
              <a:buNone/>
            </a:pPr>
            <a:r>
              <a:rPr lang="en-US" altLang="en-US" sz="2400" b="1" i="1">
                <a:latin typeface="Constantia" panose="02030602050306030303" charset="0"/>
                <a:cs typeface="Constantia" panose="02030602050306030303" charset="0"/>
              </a:rPr>
              <a:t>Innovation and Uniqueness</a:t>
            </a:r>
            <a:endParaRPr lang="en-US" altLang="en-US" sz="2400" b="1" i="1">
              <a:latin typeface="Constantia" panose="02030602050306030303" charset="0"/>
              <a:cs typeface="Constantia" panose="02030602050306030303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en-US" sz="2400" b="1" i="1">
              <a:latin typeface="Constantia" panose="02030602050306030303" charset="0"/>
              <a:cs typeface="Constantia" panose="02030602050306030303" charset="0"/>
            </a:endParaRP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 b="1"/>
              <a:t>AI based</a:t>
            </a:r>
            <a:r>
              <a:rPr lang="en-US" altLang="en-US"/>
              <a:t> encrypted traffic classification.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Works </a:t>
            </a:r>
            <a:r>
              <a:rPr lang="en-US" altLang="en-US" b="1"/>
              <a:t>without reading encrypted payloads.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Combines </a:t>
            </a:r>
            <a:r>
              <a:rPr lang="en-US" altLang="en-US" b="1"/>
              <a:t>protocol parsing, ML, and rule based security analysis.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Uses a </a:t>
            </a:r>
            <a:r>
              <a:rPr lang="en-US" altLang="en-US" b="1"/>
              <a:t>local agent for real network visibility.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Sends only </a:t>
            </a:r>
            <a:r>
              <a:rPr lang="en-US" altLang="en-US" b="1"/>
              <a:t>structured results</a:t>
            </a:r>
            <a:r>
              <a:rPr lang="en-US" altLang="en-US"/>
              <a:t> to the cloud.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Provides </a:t>
            </a:r>
            <a:r>
              <a:rPr lang="en-US" altLang="en-US" b="1"/>
              <a:t>real time risk scoring and threat mapping.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altLang="en-US"/>
              <a:t>Converts </a:t>
            </a:r>
            <a:r>
              <a:rPr lang="en-US" altLang="en-US" b="1"/>
              <a:t>complex VPN analysis into actionable reports.</a:t>
            </a:r>
            <a:endParaRPr lang="en-US" b="1"/>
          </a:p>
        </p:txBody>
      </p:sp>
      <p:cxnSp>
        <p:nvCxnSpPr>
          <p:cNvPr id="12" name="Straight Connector 11"/>
          <p:cNvCxnSpPr/>
          <p:nvPr/>
        </p:nvCxnSpPr>
        <p:spPr>
          <a:xfrm>
            <a:off x="1270" y="1189990"/>
            <a:ext cx="121907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307205" y="1205865"/>
            <a:ext cx="0" cy="5166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8295005" y="1200150"/>
            <a:ext cx="0" cy="5166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565" y="111125"/>
            <a:ext cx="1456055" cy="94805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+mn-ea"/>
              </a:rPr>
              <a:t>Team </a:t>
            </a:r>
            <a:endParaRPr lang="en-US" dirty="0"/>
          </a:p>
          <a:p>
            <a:pPr algn="ctr"/>
            <a:r>
              <a:rPr lang="en-US" altLang="en-IN" dirty="0">
                <a:sym typeface="+mn-ea"/>
              </a:rPr>
              <a:t>Terminal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250940" y="1238250"/>
            <a:ext cx="594169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 i="1"/>
              <a:t>Development Workflow</a:t>
            </a:r>
            <a:endParaRPr lang="en-US" altLang="en-US" b="1" i="1"/>
          </a:p>
          <a:p>
            <a:r>
              <a:rPr lang="en-US" altLang="en-US"/>
              <a:t>IPsec Testbed → Traffic Generation → Packet Capture → Local Agent → IKE + ESP Analysis → ML Classifier → Risk Engine → Cloud Backend → Dashboard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6250940" y="2517140"/>
            <a:ext cx="5713095" cy="119888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sz="1800" b="1" i="1"/>
              <a:t>Working Workflow</a:t>
            </a:r>
            <a:endParaRPr sz="1800"/>
          </a:p>
          <a:p>
            <a:r>
              <a:rPr sz="1800"/>
              <a:t>Live IPsec VPN → Capture → Local Agent → IKE + ESP Analysis → AI + Security Rules → Risk Score + Threat Matrix → Dashboard → PDF Report</a:t>
            </a:r>
            <a:endParaRPr sz="1800"/>
          </a:p>
        </p:txBody>
      </p:sp>
      <p:sp>
        <p:nvSpPr>
          <p:cNvPr id="5" name="Text Box 4"/>
          <p:cNvSpPr txBox="1"/>
          <p:nvPr/>
        </p:nvSpPr>
        <p:spPr>
          <a:xfrm>
            <a:off x="139065" y="1360170"/>
            <a:ext cx="5957570" cy="4338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ctr">
              <a:buFont typeface="Wingdings" panose="05000000000000000000" charset="0"/>
              <a:buNone/>
            </a:pPr>
            <a:r>
              <a:rPr lang="en-US" altLang="en-US" sz="2400" b="1" i="1"/>
              <a:t>Methodology &amp; Process for Implementation</a:t>
            </a:r>
            <a:endParaRPr lang="en-US" altLang="en-US" sz="2400" b="1" i="1"/>
          </a:p>
          <a:p>
            <a:pPr marL="0" indent="0" algn="ctr">
              <a:buFont typeface="Wingdings" panose="05000000000000000000" charset="0"/>
              <a:buNone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Build the </a:t>
            </a:r>
            <a:r>
              <a:rPr lang="en-US" altLang="en-US" b="1"/>
              <a:t>IPsec testbed </a:t>
            </a:r>
            <a:r>
              <a:rPr lang="en-US" altLang="en-US"/>
              <a:t>with controlled VPN configurations using</a:t>
            </a:r>
            <a:r>
              <a:rPr lang="en-US" altLang="en-US" b="1"/>
              <a:t> VirtualBox and Alpine Linux.</a:t>
            </a:r>
            <a:endParaRPr lang="en-US" altLang="en-US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Generate </a:t>
            </a:r>
            <a:r>
              <a:rPr lang="en-US" altLang="en-US" b="1"/>
              <a:t>diverse network traffic</a:t>
            </a:r>
            <a:r>
              <a:rPr lang="en-US" altLang="en-US"/>
              <a:t> such as web, video, VoIP, email and ICMP.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Capture real VPN traffic using </a:t>
            </a:r>
            <a:r>
              <a:rPr lang="en-US" altLang="en-US" b="1"/>
              <a:t>TShark.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Extract </a:t>
            </a:r>
            <a:r>
              <a:rPr lang="en-US" altLang="en-US" b="1"/>
              <a:t>IKE and ESP characteristics</a:t>
            </a:r>
            <a:r>
              <a:rPr lang="en-US" altLang="en-US"/>
              <a:t> from captured packets.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Classify encrypted traffic using </a:t>
            </a:r>
            <a:r>
              <a:rPr lang="en-US" altLang="en-US" b="1"/>
              <a:t>machine learning.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Evaluate VPN security using standards based </a:t>
            </a:r>
            <a:r>
              <a:rPr lang="en-US" altLang="en-US" b="1"/>
              <a:t>security rules.</a:t>
            </a:r>
            <a:endParaRPr lang="en-US" altLang="en-US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Identify weaknesses and assign </a:t>
            </a:r>
            <a:r>
              <a:rPr lang="en-US" altLang="en-US" b="1"/>
              <a:t>appropriate risk levels.</a:t>
            </a:r>
            <a:endParaRPr lang="en-US" altLang="en-US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Visualize security findings through an</a:t>
            </a:r>
            <a:r>
              <a:rPr lang="en-US" altLang="en-US" b="1"/>
              <a:t> interactive dashboard.</a:t>
            </a:r>
            <a:endParaRPr lang="en-US" altLang="en-US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/>
              <a:t>Generate </a:t>
            </a:r>
            <a:r>
              <a:rPr lang="en-US" altLang="en-US" b="1"/>
              <a:t>automated reports</a:t>
            </a:r>
            <a:r>
              <a:rPr lang="en-US" altLang="en-US"/>
              <a:t> for technical and executive users.</a:t>
            </a:r>
            <a:endParaRPr lang="en-US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270" y="1189990"/>
            <a:ext cx="121907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endCxn id="7" idx="0"/>
          </p:cNvCxnSpPr>
          <p:nvPr/>
        </p:nvCxnSpPr>
        <p:spPr>
          <a:xfrm>
            <a:off x="6250305" y="1189990"/>
            <a:ext cx="0" cy="5166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250940" y="2517140"/>
            <a:ext cx="59416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250940" y="3844290"/>
            <a:ext cx="59416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lpine-linu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540" y="4204335"/>
            <a:ext cx="581660" cy="504190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7189470" y="38442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 i="1"/>
              <a:t>Tech Stack</a:t>
            </a:r>
            <a:endParaRPr lang="en-US" b="1" i="1"/>
          </a:p>
        </p:txBody>
      </p:sp>
      <p:pic>
        <p:nvPicPr>
          <p:cNvPr id="17" name="Picture 16" descr="virtual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130" y="4212590"/>
            <a:ext cx="589280" cy="589280"/>
          </a:xfrm>
          <a:prstGeom prst="rect">
            <a:avLst/>
          </a:prstGeom>
        </p:spPr>
      </p:pic>
      <p:pic>
        <p:nvPicPr>
          <p:cNvPr id="18" name="Picture 17" descr="Pand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840" y="4969510"/>
            <a:ext cx="600710" cy="600710"/>
          </a:xfrm>
          <a:prstGeom prst="rect">
            <a:avLst/>
          </a:prstGeom>
        </p:spPr>
      </p:pic>
      <p:pic>
        <p:nvPicPr>
          <p:cNvPr id="19" name="Picture 18" descr="reac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5220" y="4179570"/>
            <a:ext cx="1021080" cy="574675"/>
          </a:xfrm>
          <a:prstGeom prst="rect">
            <a:avLst/>
          </a:prstGeom>
        </p:spPr>
      </p:pic>
      <p:pic>
        <p:nvPicPr>
          <p:cNvPr id="20" name="Picture 19" descr="Tailwind CSS Icon - Colored - 3468x2048 - zonalogo.co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5395" y="4269105"/>
            <a:ext cx="776605" cy="459105"/>
          </a:xfrm>
          <a:prstGeom prst="rect">
            <a:avLst/>
          </a:prstGeom>
        </p:spPr>
      </p:pic>
      <p:pic>
        <p:nvPicPr>
          <p:cNvPr id="21" name="Picture 20" descr="toppng.com-wireshark-logo-1468x5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7390" y="4204335"/>
            <a:ext cx="1607820" cy="560705"/>
          </a:xfrm>
          <a:prstGeom prst="rect">
            <a:avLst/>
          </a:prstGeom>
        </p:spPr>
      </p:pic>
      <p:pic>
        <p:nvPicPr>
          <p:cNvPr id="23" name="Picture 22" descr="pyth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3975" y="4996180"/>
            <a:ext cx="517525" cy="517525"/>
          </a:xfrm>
          <a:prstGeom prst="rect">
            <a:avLst/>
          </a:prstGeom>
        </p:spPr>
      </p:pic>
      <p:pic>
        <p:nvPicPr>
          <p:cNvPr id="24" name="Picture 23" descr="NumPy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7875" y="4925060"/>
            <a:ext cx="600710" cy="600710"/>
          </a:xfrm>
          <a:prstGeom prst="rect">
            <a:avLst/>
          </a:prstGeom>
        </p:spPr>
      </p:pic>
      <p:pic>
        <p:nvPicPr>
          <p:cNvPr id="25" name="Picture 24" descr="scikit lear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0660" y="4761865"/>
            <a:ext cx="1734185" cy="1083945"/>
          </a:xfrm>
          <a:prstGeom prst="rect">
            <a:avLst/>
          </a:prstGeom>
        </p:spPr>
      </p:pic>
      <p:pic>
        <p:nvPicPr>
          <p:cNvPr id="26" name="Picture 25" descr="joblib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36300" y="4867910"/>
            <a:ext cx="767080" cy="708025"/>
          </a:xfrm>
          <a:prstGeom prst="rect">
            <a:avLst/>
          </a:prstGeom>
        </p:spPr>
      </p:pic>
      <p:pic>
        <p:nvPicPr>
          <p:cNvPr id="27" name="Picture 26" descr="Supabase Icon - Colored - 1980x2048 - zonalogo.com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9780" y="5620385"/>
            <a:ext cx="617855" cy="639445"/>
          </a:xfrm>
          <a:prstGeom prst="rect">
            <a:avLst/>
          </a:prstGeom>
        </p:spPr>
      </p:pic>
      <p:pic>
        <p:nvPicPr>
          <p:cNvPr id="28" name="Picture 27" descr="Google Gemini Icon - Colored - 2048x2048 - zonalogo.com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35210" y="5640705"/>
            <a:ext cx="670560" cy="670560"/>
          </a:xfrm>
          <a:prstGeom prst="rect">
            <a:avLst/>
          </a:prstGeom>
        </p:spPr>
      </p:pic>
      <p:pic>
        <p:nvPicPr>
          <p:cNvPr id="29" name="Picture 28" descr="FastAPI Icon - Colored - 2062x2048 - zonalogo.com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34810" y="5664835"/>
            <a:ext cx="600075" cy="596265"/>
          </a:xfrm>
          <a:prstGeom prst="rect">
            <a:avLst/>
          </a:prstGeom>
        </p:spPr>
      </p:pic>
      <p:pic>
        <p:nvPicPr>
          <p:cNvPr id="30" name="Picture 29" descr="github-logo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67110" y="5648960"/>
            <a:ext cx="653415" cy="6534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565" y="31750"/>
            <a:ext cx="1536700" cy="102743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+mn-ea"/>
              </a:rPr>
              <a:t>Team </a:t>
            </a:r>
            <a:endParaRPr lang="en-US" dirty="0"/>
          </a:p>
          <a:p>
            <a:pPr algn="ctr"/>
            <a:r>
              <a:rPr lang="en-US" altLang="en-IN" dirty="0">
                <a:sym typeface="+mn-ea"/>
              </a:rPr>
              <a:t>Terminal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67640" y="1203960"/>
            <a:ext cx="4477385" cy="461708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spcAft>
                <a:spcPct val="60000"/>
              </a:spcAft>
            </a:pPr>
            <a:r>
              <a:rPr sz="2200" b="1" i="1"/>
              <a:t>Analysis of the Feasibility of the Idea</a:t>
            </a:r>
            <a:endParaRPr sz="2200" b="1" i="1"/>
          </a:p>
          <a:p>
            <a:pPr marL="342900" indent="-342900">
              <a:buFont typeface="Wingdings" panose="05000000000000000000" charset="0"/>
              <a:buChar char="o"/>
            </a:pPr>
            <a:r>
              <a:rPr sz="1600"/>
              <a:t>Fully deployable in a </a:t>
            </a:r>
            <a:r>
              <a:rPr sz="1600" b="1"/>
              <a:t>controlled virtual environment.</a:t>
            </a:r>
            <a:endParaRPr sz="1600" b="1"/>
          </a:p>
          <a:p>
            <a:pPr marL="342900" indent="-342900">
              <a:buFont typeface="Wingdings" panose="05000000000000000000" charset="0"/>
              <a:buChar char="o"/>
            </a:pPr>
            <a:r>
              <a:rPr sz="1600"/>
              <a:t>Requires </a:t>
            </a:r>
            <a:r>
              <a:rPr sz="1600" b="1"/>
              <a:t>no specialized hardware </a:t>
            </a:r>
            <a:r>
              <a:rPr sz="1600"/>
              <a:t>for the core prototype.</a:t>
            </a:r>
            <a:endParaRPr sz="1600"/>
          </a:p>
          <a:p>
            <a:pPr marL="342900" indent="-342900">
              <a:buFont typeface="Wingdings" panose="05000000000000000000" charset="0"/>
              <a:buChar char="o"/>
            </a:pPr>
            <a:r>
              <a:rPr sz="1600"/>
              <a:t>VPN configurations can be reproduced and </a:t>
            </a:r>
            <a:r>
              <a:rPr sz="1600" b="1"/>
              <a:t>tested systematically.</a:t>
            </a:r>
            <a:endParaRPr sz="1600" b="1"/>
          </a:p>
          <a:p>
            <a:pPr marL="342900" indent="-342900">
              <a:buFont typeface="Wingdings" panose="05000000000000000000" charset="0"/>
              <a:buChar char="o"/>
            </a:pPr>
            <a:r>
              <a:rPr sz="1600"/>
              <a:t>Traffic </a:t>
            </a:r>
            <a:r>
              <a:rPr sz="1600" b="1"/>
              <a:t>datasets can be generated and labeled in</a:t>
            </a:r>
            <a:r>
              <a:rPr lang="en-US" sz="1600" b="1"/>
              <a:t> </a:t>
            </a:r>
            <a:r>
              <a:rPr sz="1600" b="1"/>
              <a:t>house.</a:t>
            </a:r>
            <a:endParaRPr sz="1600" b="1"/>
          </a:p>
          <a:p>
            <a:pPr marL="342900" indent="-342900">
              <a:buFont typeface="Wingdings" panose="05000000000000000000" charset="0"/>
              <a:buChar char="o"/>
            </a:pPr>
            <a:r>
              <a:rPr sz="1600"/>
              <a:t>Most </a:t>
            </a:r>
            <a:r>
              <a:rPr sz="1600" b="1"/>
              <a:t>protocol parameters </a:t>
            </a:r>
            <a:r>
              <a:rPr sz="1600"/>
              <a:t>can be </a:t>
            </a:r>
            <a:r>
              <a:rPr sz="1600" b="1"/>
              <a:t>extracted without decrypting VPN data.</a:t>
            </a:r>
            <a:endParaRPr sz="1600"/>
          </a:p>
          <a:p>
            <a:pPr marL="342900" indent="-342900">
              <a:buFont typeface="Wingdings" panose="05000000000000000000" charset="0"/>
              <a:buChar char="o"/>
            </a:pPr>
            <a:r>
              <a:rPr sz="1600" b="1"/>
              <a:t>Security scoring </a:t>
            </a:r>
            <a:r>
              <a:rPr lang="en-US" sz="1600"/>
              <a:t>is</a:t>
            </a:r>
            <a:r>
              <a:rPr sz="1600"/>
              <a:t> implemented deterministically </a:t>
            </a:r>
            <a:r>
              <a:rPr sz="1600" b="1"/>
              <a:t>using defined rules.</a:t>
            </a:r>
            <a:endParaRPr sz="1600"/>
          </a:p>
          <a:p>
            <a:pPr marL="342900" indent="-342900">
              <a:buFont typeface="Wingdings" panose="05000000000000000000" charset="0"/>
              <a:buChar char="o"/>
            </a:pPr>
            <a:r>
              <a:rPr sz="1600"/>
              <a:t>The complete </a:t>
            </a:r>
            <a:r>
              <a:rPr sz="1600" b="1"/>
              <a:t>pipeline can operate locally with a lightweight web dashboard.</a:t>
            </a:r>
            <a:endParaRPr sz="1600" b="1"/>
          </a:p>
          <a:p>
            <a:pPr marL="342900" indent="-342900">
              <a:buFont typeface="Wingdings" panose="05000000000000000000" charset="0"/>
              <a:buChar char="o"/>
            </a:pPr>
            <a:r>
              <a:rPr sz="1600"/>
              <a:t>The solution </a:t>
            </a:r>
            <a:r>
              <a:rPr lang="en-US" sz="1600" b="1"/>
              <a:t>easily</a:t>
            </a:r>
            <a:r>
              <a:rPr sz="1600" b="1"/>
              <a:t> scale</a:t>
            </a:r>
            <a:r>
              <a:rPr lang="en-US" sz="1600" b="1"/>
              <a:t>s</a:t>
            </a:r>
            <a:r>
              <a:rPr sz="1600" b="1"/>
              <a:t> </a:t>
            </a:r>
            <a:r>
              <a:rPr sz="1600"/>
              <a:t>from PCAP analysis to live monitoring.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4645025" y="1203960"/>
            <a:ext cx="3980815" cy="365887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spcAft>
                <a:spcPct val="60000"/>
              </a:spcAft>
            </a:pPr>
            <a:r>
              <a:rPr sz="2300" b="1" i="1"/>
              <a:t>Potential Challenges and Risks</a:t>
            </a:r>
            <a:endParaRPr sz="2300" b="1" i="1"/>
          </a:p>
          <a:p>
            <a:pPr marL="285750" indent="-285750">
              <a:buFont typeface="Wingdings" panose="05000000000000000000" charset="0"/>
              <a:buChar char="o"/>
            </a:pPr>
            <a:r>
              <a:rPr sz="1600"/>
              <a:t>Encrypted payloads </a:t>
            </a:r>
            <a:r>
              <a:rPr sz="1600" b="1"/>
              <a:t>limit direct traffic identification.</a:t>
            </a:r>
            <a:endParaRPr sz="1600" b="1"/>
          </a:p>
          <a:p>
            <a:pPr marL="285750" indent="-285750">
              <a:buFont typeface="Wingdings" panose="05000000000000000000" charset="0"/>
              <a:buChar char="o"/>
            </a:pPr>
            <a:r>
              <a:rPr sz="1600"/>
              <a:t>Traffic </a:t>
            </a:r>
            <a:r>
              <a:rPr sz="1600" b="1"/>
              <a:t>patterns may overlap </a:t>
            </a:r>
            <a:r>
              <a:rPr sz="1600"/>
              <a:t>between applications.</a:t>
            </a:r>
            <a:endParaRPr sz="1600"/>
          </a:p>
          <a:p>
            <a:pPr marL="285750" indent="-285750">
              <a:buFont typeface="Wingdings" panose="05000000000000000000" charset="0"/>
              <a:buChar char="o"/>
            </a:pPr>
            <a:r>
              <a:rPr sz="1600"/>
              <a:t>Live packet capture </a:t>
            </a:r>
            <a:r>
              <a:rPr sz="1600" b="1"/>
              <a:t>requires administrator privileges.</a:t>
            </a:r>
            <a:endParaRPr sz="1600" b="1"/>
          </a:p>
          <a:p>
            <a:pPr marL="285750" indent="-285750">
              <a:buFont typeface="Wingdings" panose="05000000000000000000" charset="0"/>
              <a:buChar char="o"/>
            </a:pPr>
            <a:r>
              <a:rPr sz="1600"/>
              <a:t>Network environments </a:t>
            </a:r>
            <a:r>
              <a:rPr sz="1600" b="1"/>
              <a:t>may produce noisy data.</a:t>
            </a:r>
            <a:endParaRPr sz="1600" b="1"/>
          </a:p>
          <a:p>
            <a:pPr marL="285750" indent="-285750">
              <a:buFont typeface="Wingdings" panose="05000000000000000000" charset="0"/>
              <a:buChar char="o"/>
            </a:pPr>
            <a:r>
              <a:rPr sz="1600"/>
              <a:t>Different VPN configurations </a:t>
            </a:r>
            <a:r>
              <a:rPr sz="1600" b="1"/>
              <a:t>increase dataset complexity.</a:t>
            </a:r>
            <a:endParaRPr sz="1600" b="1"/>
          </a:p>
          <a:p>
            <a:pPr marL="285750" indent="-285750">
              <a:buFont typeface="Wingdings" panose="05000000000000000000" charset="0"/>
              <a:buChar char="o"/>
            </a:pPr>
            <a:r>
              <a:rPr sz="1600"/>
              <a:t>Live demonstrations may face </a:t>
            </a:r>
            <a:r>
              <a:rPr sz="1600" b="1"/>
              <a:t>network or system failures.</a:t>
            </a:r>
            <a:endParaRPr sz="1600" b="1"/>
          </a:p>
        </p:txBody>
      </p:sp>
      <p:sp>
        <p:nvSpPr>
          <p:cNvPr id="4" name="Text Box 3"/>
          <p:cNvSpPr txBox="1"/>
          <p:nvPr/>
        </p:nvSpPr>
        <p:spPr>
          <a:xfrm>
            <a:off x="8626475" y="1203960"/>
            <a:ext cx="3545205" cy="352044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spcAft>
                <a:spcPct val="60000"/>
              </a:spcAft>
            </a:pPr>
            <a:r>
              <a:rPr sz="2300" b="1" i="1"/>
              <a:t>Strategies for Overcoming These Challenges</a:t>
            </a:r>
            <a:endParaRPr sz="2300" b="1" i="1"/>
          </a:p>
          <a:p>
            <a:pPr marL="285750" indent="-285750">
              <a:buFont typeface="Wingdings" panose="05000000000000000000" charset="0"/>
              <a:buChar char="o"/>
            </a:pPr>
            <a:r>
              <a:rPr sz="1600"/>
              <a:t>Use </a:t>
            </a:r>
            <a:r>
              <a:rPr sz="1600" b="1"/>
              <a:t>statistical flow features instead of payload inspection.</a:t>
            </a:r>
            <a:endParaRPr sz="1600" b="1"/>
          </a:p>
          <a:p>
            <a:pPr marL="285750" indent="-285750">
              <a:buFont typeface="Wingdings" panose="05000000000000000000" charset="0"/>
              <a:buChar char="o"/>
            </a:pPr>
            <a:r>
              <a:rPr sz="1600" b="1"/>
              <a:t>Train and validate </a:t>
            </a:r>
            <a:r>
              <a:rPr sz="1600"/>
              <a:t>the classifier on controlled traffic.</a:t>
            </a:r>
            <a:endParaRPr sz="1600"/>
          </a:p>
          <a:p>
            <a:pPr marL="285750" indent="-285750">
              <a:buFont typeface="Wingdings" panose="05000000000000000000" charset="0"/>
              <a:buChar char="o"/>
            </a:pPr>
            <a:r>
              <a:rPr sz="1600"/>
              <a:t>Run packet capture through a </a:t>
            </a:r>
            <a:r>
              <a:rPr sz="1600" b="1"/>
              <a:t>privileged local agent.</a:t>
            </a:r>
            <a:endParaRPr sz="1600"/>
          </a:p>
          <a:p>
            <a:pPr marL="285750" indent="-285750">
              <a:buFont typeface="Wingdings" panose="05000000000000000000" charset="0"/>
              <a:buChar char="o"/>
            </a:pPr>
            <a:r>
              <a:rPr sz="1600" b="1"/>
              <a:t>Generate diverse configurations </a:t>
            </a:r>
            <a:r>
              <a:rPr sz="1600"/>
              <a:t>and traffic patterns.</a:t>
            </a:r>
            <a:endParaRPr sz="1600"/>
          </a:p>
          <a:p>
            <a:pPr marL="285750" indent="-285750">
              <a:buFont typeface="Wingdings" panose="05000000000000000000" charset="0"/>
              <a:buChar char="o"/>
            </a:pPr>
            <a:r>
              <a:rPr sz="1600"/>
              <a:t>Use </a:t>
            </a:r>
            <a:r>
              <a:rPr sz="1600" b="1"/>
              <a:t>standards</a:t>
            </a:r>
            <a:r>
              <a:rPr lang="en-US" sz="1600" b="1"/>
              <a:t> </a:t>
            </a:r>
            <a:r>
              <a:rPr sz="1600" b="1"/>
              <a:t>based rules </a:t>
            </a:r>
            <a:r>
              <a:rPr sz="1600"/>
              <a:t>for deterministic risk assessment</a:t>
            </a:r>
            <a:endParaRPr sz="1600"/>
          </a:p>
        </p:txBody>
      </p:sp>
      <p:cxnSp>
        <p:nvCxnSpPr>
          <p:cNvPr id="8" name="Straight Connector 7"/>
          <p:cNvCxnSpPr/>
          <p:nvPr/>
        </p:nvCxnSpPr>
        <p:spPr>
          <a:xfrm>
            <a:off x="1270" y="1189990"/>
            <a:ext cx="121907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644390" y="1189990"/>
            <a:ext cx="0" cy="5166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8626475" y="1203960"/>
            <a:ext cx="0" cy="5166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565" y="164465"/>
            <a:ext cx="1496060" cy="89471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+mn-ea"/>
              </a:rPr>
              <a:t>Team </a:t>
            </a:r>
            <a:endParaRPr lang="en-US" dirty="0"/>
          </a:p>
          <a:p>
            <a:pPr algn="ctr"/>
            <a:r>
              <a:rPr lang="en-US" altLang="en-IN" dirty="0">
                <a:sym typeface="+mn-ea"/>
              </a:rPr>
              <a:t>Terminal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6095365" y="1189990"/>
            <a:ext cx="0" cy="51663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270" y="1189990"/>
            <a:ext cx="121907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Box 1"/>
          <p:cNvSpPr txBox="1"/>
          <p:nvPr/>
        </p:nvSpPr>
        <p:spPr>
          <a:xfrm>
            <a:off x="188595" y="1316355"/>
            <a:ext cx="5906770" cy="4495800"/>
          </a:xfrm>
          <a:prstGeom prst="rect">
            <a:avLst/>
          </a:prstGeom>
        </p:spPr>
        <p:txBody>
          <a:bodyPr>
            <a:noAutofit/>
          </a:bodyPr>
          <a:p>
            <a:pPr algn="ctr">
              <a:spcAft>
                <a:spcPct val="60000"/>
              </a:spcAft>
            </a:pPr>
            <a:r>
              <a:rPr sz="2300" b="1" i="1"/>
              <a:t>Potential Impact on the Target Audience</a:t>
            </a:r>
            <a:endParaRPr sz="2300" b="1" i="1"/>
          </a:p>
          <a:p>
            <a:pPr marL="285750" indent="-285750">
              <a:buFont typeface="Wingdings" panose="05000000000000000000" charset="0"/>
              <a:buChar char="ü"/>
            </a:pPr>
            <a:r>
              <a:rPr sz="1600" b="1"/>
              <a:t>Reduces dependence</a:t>
            </a:r>
            <a:r>
              <a:rPr sz="1600"/>
              <a:t> on cybersecurity experts.</a:t>
            </a:r>
            <a:endParaRPr sz="1600"/>
          </a:p>
          <a:p>
            <a:pPr marL="285750" indent="-285750">
              <a:buFont typeface="Wingdings" panose="05000000000000000000" charset="0"/>
              <a:buChar char="ü"/>
            </a:pPr>
            <a:r>
              <a:rPr sz="1600"/>
              <a:t>Enables</a:t>
            </a:r>
            <a:r>
              <a:rPr sz="1600" b="1"/>
              <a:t> faster VPN security assessment.</a:t>
            </a:r>
            <a:endParaRPr sz="1600"/>
          </a:p>
          <a:p>
            <a:pPr marL="285750" indent="-285750">
              <a:buFont typeface="Wingdings" panose="05000000000000000000" charset="0"/>
              <a:buChar char="ü"/>
            </a:pPr>
            <a:r>
              <a:rPr sz="1600"/>
              <a:t>Helps analysts </a:t>
            </a:r>
            <a:r>
              <a:rPr sz="1600" b="1"/>
              <a:t>detect weaknesses earlier.</a:t>
            </a:r>
            <a:endParaRPr sz="1600"/>
          </a:p>
          <a:p>
            <a:pPr marL="285750" indent="-285750">
              <a:buFont typeface="Wingdings" panose="05000000000000000000" charset="0"/>
              <a:buChar char="ü"/>
            </a:pPr>
            <a:r>
              <a:rPr sz="1600"/>
              <a:t>Provides</a:t>
            </a:r>
            <a:r>
              <a:rPr sz="1600" b="1"/>
              <a:t> clear, actionable security recommendations.</a:t>
            </a:r>
            <a:endParaRPr sz="1600" b="1"/>
          </a:p>
          <a:p>
            <a:pPr marL="285750" indent="-285750">
              <a:buFont typeface="Wingdings" panose="05000000000000000000" charset="0"/>
              <a:buChar char="ü"/>
            </a:pPr>
            <a:r>
              <a:rPr sz="1600" b="1"/>
              <a:t>Improves visibility</a:t>
            </a:r>
            <a:r>
              <a:rPr sz="1600"/>
              <a:t> into encrypted network traffic.</a:t>
            </a:r>
            <a:endParaRPr lang="en-US" altLang="en-US" sz="1600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 sz="1600" b="1"/>
              <a:t>Exposes security blind spots</a:t>
            </a:r>
            <a:r>
              <a:rPr lang="en-US" altLang="en-US" sz="1600"/>
              <a:t> invisible at application level.</a:t>
            </a:r>
            <a:endParaRPr lang="en-US" altLang="en-US" sz="1600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 sz="1600"/>
              <a:t>Enables </a:t>
            </a:r>
            <a:r>
              <a:rPr lang="en-US" altLang="en-US" sz="1600" b="1"/>
              <a:t>evidence based VPN security governance.</a:t>
            </a: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 sz="1600"/>
              <a:t>Supports </a:t>
            </a:r>
            <a:r>
              <a:rPr lang="en-US" altLang="en-US" sz="1600" b="1"/>
              <a:t>proactive hardening before a breach occurs.</a:t>
            </a:r>
            <a:endParaRPr lang="en-US" altLang="en-US" sz="1600" b="1"/>
          </a:p>
          <a:p>
            <a:pPr marL="285750" indent="-285750">
              <a:buFont typeface="Wingdings" panose="05000000000000000000" charset="0"/>
              <a:buChar char="ü"/>
            </a:pPr>
            <a:r>
              <a:rPr lang="en-US" altLang="en-US" sz="1600"/>
              <a:t>Creates a </a:t>
            </a:r>
            <a:r>
              <a:rPr lang="en-US" altLang="en-US" sz="1600" b="1"/>
              <a:t>scalable foundation</a:t>
            </a:r>
            <a:r>
              <a:rPr lang="en-US" altLang="en-US" sz="1600"/>
              <a:t> for enterprise wide VPN assurance.</a:t>
            </a:r>
            <a:endParaRPr lang="en-US" altLang="en-US" sz="1600"/>
          </a:p>
        </p:txBody>
      </p:sp>
      <p:sp>
        <p:nvSpPr>
          <p:cNvPr id="4" name="Text Box 3"/>
          <p:cNvSpPr txBox="1"/>
          <p:nvPr/>
        </p:nvSpPr>
        <p:spPr>
          <a:xfrm>
            <a:off x="6586855" y="1316038"/>
            <a:ext cx="5080000" cy="445135"/>
          </a:xfrm>
          <a:prstGeom prst="rect">
            <a:avLst/>
          </a:prstGeom>
        </p:spPr>
        <p:txBody>
          <a:bodyPr>
            <a:spAutoFit/>
          </a:bodyPr>
          <a:p>
            <a:pPr algn="ctr"/>
            <a:r>
              <a:rPr sz="2300" b="1" i="1"/>
              <a:t>Benefits of the Solution</a:t>
            </a:r>
            <a:endParaRPr sz="2300" b="1" i="1"/>
          </a:p>
        </p:txBody>
      </p:sp>
      <p:sp>
        <p:nvSpPr>
          <p:cNvPr id="5" name="Text Box 4"/>
          <p:cNvSpPr txBox="1"/>
          <p:nvPr/>
        </p:nvSpPr>
        <p:spPr>
          <a:xfrm>
            <a:off x="6296025" y="2383155"/>
            <a:ext cx="1355090" cy="364490"/>
          </a:xfrm>
          <a:prstGeom prst="rect">
            <a:avLst/>
          </a:prstGeom>
        </p:spPr>
        <p:txBody>
          <a:bodyPr>
            <a:noAutofit/>
          </a:bodyPr>
          <a:p>
            <a:r>
              <a:rPr sz="1600" b="1"/>
              <a:t>Social Impact</a:t>
            </a:r>
            <a:endParaRPr sz="1600" b="1"/>
          </a:p>
        </p:txBody>
      </p:sp>
      <p:sp>
        <p:nvSpPr>
          <p:cNvPr id="13" name="Text Box 12"/>
          <p:cNvSpPr txBox="1"/>
          <p:nvPr/>
        </p:nvSpPr>
        <p:spPr>
          <a:xfrm>
            <a:off x="8211185" y="2383155"/>
            <a:ext cx="1830705" cy="704850"/>
          </a:xfrm>
          <a:prstGeom prst="rect">
            <a:avLst/>
          </a:prstGeom>
        </p:spPr>
        <p:txBody>
          <a:bodyPr>
            <a:noAutofit/>
          </a:bodyPr>
          <a:p>
            <a:r>
              <a:rPr sz="1600" b="1"/>
              <a:t>Economic Impact</a:t>
            </a:r>
            <a:endParaRPr sz="1600" b="1"/>
          </a:p>
        </p:txBody>
      </p:sp>
      <p:sp>
        <p:nvSpPr>
          <p:cNvPr id="14" name="Text Box 13"/>
          <p:cNvSpPr txBox="1"/>
          <p:nvPr/>
        </p:nvSpPr>
        <p:spPr>
          <a:xfrm>
            <a:off x="10086975" y="2383155"/>
            <a:ext cx="2188210" cy="363855"/>
          </a:xfrm>
          <a:prstGeom prst="rect">
            <a:avLst/>
          </a:prstGeom>
        </p:spPr>
        <p:txBody>
          <a:bodyPr>
            <a:noAutofit/>
          </a:bodyPr>
          <a:p>
            <a:r>
              <a:rPr sz="1600" b="1"/>
              <a:t>Environmental Impact</a:t>
            </a:r>
            <a:endParaRPr sz="1600" b="1"/>
          </a:p>
        </p:txBody>
      </p:sp>
      <p:cxnSp>
        <p:nvCxnSpPr>
          <p:cNvPr id="15" name="Straight Arrow Connector 14"/>
          <p:cNvCxnSpPr>
            <a:endCxn id="5" idx="0"/>
          </p:cNvCxnSpPr>
          <p:nvPr/>
        </p:nvCxnSpPr>
        <p:spPr>
          <a:xfrm>
            <a:off x="6973570" y="2166620"/>
            <a:ext cx="0" cy="216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126855" y="2166620"/>
            <a:ext cx="0" cy="216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1181080" y="2166620"/>
            <a:ext cx="0" cy="216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6585" y="2072640"/>
            <a:ext cx="42144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9126855" y="1720850"/>
            <a:ext cx="0" cy="311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442710" y="2747010"/>
            <a:ext cx="0" cy="2269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388985" y="2747010"/>
            <a:ext cx="0" cy="20262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240645" y="2747010"/>
            <a:ext cx="0" cy="20262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 Box 24"/>
          <p:cNvSpPr txBox="1"/>
          <p:nvPr/>
        </p:nvSpPr>
        <p:spPr>
          <a:xfrm>
            <a:off x="6657340" y="2955290"/>
            <a:ext cx="1660525" cy="961390"/>
          </a:xfrm>
          <a:prstGeom prst="rect">
            <a:avLst/>
          </a:prstGeom>
        </p:spPr>
        <p:txBody>
          <a:bodyPr>
            <a:noAutofit/>
          </a:bodyPr>
          <a:p>
            <a:r>
              <a:rPr sz="1600"/>
              <a:t>Sensitive Communication Protection</a:t>
            </a:r>
            <a:endParaRPr sz="1600"/>
          </a:p>
          <a:p>
            <a:endParaRPr sz="1600"/>
          </a:p>
          <a:p>
            <a:r>
              <a:rPr sz="1600"/>
              <a:t>Cybersecurity Awareness </a:t>
            </a:r>
            <a:endParaRPr sz="1600"/>
          </a:p>
          <a:p>
            <a:endParaRPr sz="1600"/>
          </a:p>
          <a:p>
            <a:r>
              <a:rPr sz="1600"/>
              <a:t>Safer Digital Communication</a:t>
            </a:r>
            <a:endParaRPr sz="1600"/>
          </a:p>
        </p:txBody>
      </p:sp>
      <p:sp>
        <p:nvSpPr>
          <p:cNvPr id="26" name="Text Box 25"/>
          <p:cNvSpPr txBox="1"/>
          <p:nvPr/>
        </p:nvSpPr>
        <p:spPr>
          <a:xfrm>
            <a:off x="8565515" y="2955290"/>
            <a:ext cx="1621790" cy="206121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/>
              <a:t>Reduced Analysis Effort</a:t>
            </a:r>
            <a:endParaRPr sz="1600"/>
          </a:p>
          <a:p>
            <a:endParaRPr sz="1600"/>
          </a:p>
          <a:p>
            <a:r>
              <a:rPr sz="1600"/>
              <a:t>Lower Security Costs </a:t>
            </a:r>
            <a:endParaRPr sz="1600"/>
          </a:p>
          <a:p>
            <a:endParaRPr sz="1600"/>
          </a:p>
          <a:p>
            <a:r>
              <a:rPr sz="1600"/>
              <a:t>Prevention of Costly Incidents</a:t>
            </a:r>
            <a:endParaRPr sz="1600"/>
          </a:p>
        </p:txBody>
      </p:sp>
      <p:sp>
        <p:nvSpPr>
          <p:cNvPr id="27" name="Text Box 26"/>
          <p:cNvSpPr txBox="1"/>
          <p:nvPr/>
        </p:nvSpPr>
        <p:spPr>
          <a:xfrm>
            <a:off x="10435590" y="2955290"/>
            <a:ext cx="1680210" cy="23069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/>
              <a:t>Virtual Infrastructure</a:t>
            </a:r>
            <a:endParaRPr sz="1600"/>
          </a:p>
          <a:p>
            <a:endParaRPr sz="1600"/>
          </a:p>
          <a:p>
            <a:r>
              <a:rPr sz="1600"/>
              <a:t>Lower Hardware Dependency </a:t>
            </a:r>
            <a:endParaRPr sz="1600"/>
          </a:p>
          <a:p>
            <a:endParaRPr sz="1600"/>
          </a:p>
          <a:p>
            <a:r>
              <a:rPr sz="1600"/>
              <a:t>Reduced Resource Consumption</a:t>
            </a:r>
            <a:endParaRPr sz="1600"/>
          </a:p>
        </p:txBody>
      </p:sp>
      <p:cxnSp>
        <p:nvCxnSpPr>
          <p:cNvPr id="28" name="Straight Arrow Connector 27"/>
          <p:cNvCxnSpPr>
            <a:endCxn id="25" idx="1"/>
          </p:cNvCxnSpPr>
          <p:nvPr/>
        </p:nvCxnSpPr>
        <p:spPr>
          <a:xfrm>
            <a:off x="6442710" y="3435985"/>
            <a:ext cx="2146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447155" y="4195445"/>
            <a:ext cx="2146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6447155" y="4954905"/>
            <a:ext cx="2146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8388985" y="3162300"/>
            <a:ext cx="2146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8376285" y="3916680"/>
            <a:ext cx="2146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8388985" y="4563110"/>
            <a:ext cx="2146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10243820" y="3152775"/>
            <a:ext cx="2146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10240645" y="3921125"/>
            <a:ext cx="2146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10240645" y="4563110"/>
            <a:ext cx="2146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5343</Words>
  <Application>WPS Presentation</Application>
  <PresentationFormat>Widescreen</PresentationFormat>
  <Paragraphs>189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MS PGothic</vt:lpstr>
      <vt:lpstr>TradeGothic</vt:lpstr>
      <vt:lpstr>Fertigo Pro</vt:lpstr>
      <vt:lpstr>TradeGothic</vt:lpstr>
      <vt:lpstr>Arial</vt:lpstr>
      <vt:lpstr>Times New Roman</vt:lpstr>
      <vt:lpstr>Garamond</vt:lpstr>
      <vt:lpstr>Calibri</vt:lpstr>
      <vt:lpstr>Microsoft YaHei</vt:lpstr>
      <vt:lpstr>Arial Unicode MS</vt:lpstr>
      <vt:lpstr>Wingdings</vt:lpstr>
      <vt:lpstr>Comic Sans MS</vt:lpstr>
      <vt:lpstr>Constantia</vt:lpstr>
      <vt:lpstr>Microsoft JhengHei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演示文稿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MUAAZ ANSARI</cp:lastModifiedBy>
  <cp:revision>149</cp:revision>
  <dcterms:created xsi:type="dcterms:W3CDTF">2013-12-12T18:46:00Z</dcterms:created>
  <dcterms:modified xsi:type="dcterms:W3CDTF">2026-08-30T21:08:03Z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C0DAB3DAA5A54C15BA5E96C40A922A74_12</vt:lpwstr>
  </property>
</Properties>
</file>